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ApexPlanet Internship — Task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/>
            </a:pPr>
            <a:r>
              <a:t>Data Storytelling &amp; Statistical Validation</a:t>
            </a:r>
          </a:p>
          <a:p>
            <a:pPr>
              <a:spcAft>
                <a:spcPts val="1200"/>
              </a:spcAft>
              <a:defRPr sz="2300"/>
            </a:pPr>
            <a:r>
              <a:t>Sales performance, customer insights and hypothesis testing</a:t>
            </a:r>
          </a:p>
          <a:p>
            <a:pPr>
              <a:spcAft>
                <a:spcPts val="1200"/>
              </a:spcAft>
              <a:defRPr sz="2300"/>
            </a:pPr>
            <a:r>
              <a:t>Presented by Deepanshu Bhirmaan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Executive Business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₹13.94 crore revenue across 1,000 transactions.</a:t>
            </a:r>
          </a:p>
          <a:p>
            <a:pPr>
              <a:spcAft>
                <a:spcPts val="1200"/>
              </a:spcAft>
              <a:defRPr sz="2100"/>
            </a:pPr>
            <a:r>
              <a:t>947 unique customers and 5,435 units sold.</a:t>
            </a:r>
          </a:p>
          <a:p>
            <a:pPr>
              <a:spcAft>
                <a:spcPts val="1200"/>
              </a:spcAft>
              <a:defRPr sz="2100"/>
            </a:pPr>
            <a:r>
              <a:t>Electronics is the highest-revenue category; Laptop is the top-performing product.</a:t>
            </a:r>
          </a:p>
          <a:p>
            <a:pPr>
              <a:spcAft>
                <a:spcPts val="1200"/>
              </a:spcAft>
              <a:defRPr sz="2100"/>
            </a:pPr>
            <a:r>
              <a:t>2025-03 recorded the highest monthly revenue.</a:t>
            </a:r>
          </a:p>
          <a:p>
            <a:pPr>
              <a:spcAft>
                <a:spcPts val="1200"/>
              </a:spcAft>
              <a:defRPr sz="2100"/>
            </a:pPr>
            <a:r>
              <a:t>Customer segmentation highlights Potential, Loyal and Champions groups for targeted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KPI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20574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₹13.94 Cr</a:t>
            </a:r>
          </a:p>
          <a:p>
            <a:pPr algn="ctr">
              <a:defRPr sz="1200"/>
            </a:pPr>
            <a:r>
              <a:t>Total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39" y="1828800"/>
            <a:ext cx="20574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1,000</a:t>
            </a:r>
          </a:p>
          <a:p>
            <a:pPr algn="ctr">
              <a:defRPr sz="1200"/>
            </a:pPr>
            <a:r>
              <a:t>Total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59" y="1828800"/>
            <a:ext cx="20574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₹139.4K</a:t>
            </a:r>
          </a:p>
          <a:p>
            <a:pPr algn="ctr">
              <a:defRPr sz="1200"/>
            </a:pPr>
            <a:r>
              <a:t>Average Order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828800"/>
            <a:ext cx="20574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5,435</a:t>
            </a:r>
          </a:p>
          <a:p>
            <a:pPr algn="ctr">
              <a:defRPr sz="1200"/>
            </a:pPr>
            <a:r>
              <a:t>Units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1828800"/>
            <a:ext cx="20574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947</a:t>
            </a:r>
          </a:p>
          <a:p>
            <a:pPr algn="ctr">
              <a:defRPr sz="1200"/>
            </a:pPr>
            <a:r>
              <a:t>Unique 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Sales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Electronics generated ₹5.08 crore — the highest category revenue.</a:t>
            </a:r>
          </a:p>
          <a:p>
            <a:pPr>
              <a:spcAft>
                <a:spcPts val="1200"/>
              </a:spcAft>
              <a:defRPr sz="2000"/>
            </a:pPr>
            <a:r>
              <a:t>Laptop was the top-performing product.</a:t>
            </a:r>
          </a:p>
          <a:p>
            <a:pPr>
              <a:spcAft>
                <a:spcPts val="1200"/>
              </a:spcAft>
              <a:defRPr sz="2000"/>
            </a:pPr>
            <a:r>
              <a:t>Patna was the highest-revenue city.</a:t>
            </a:r>
          </a:p>
          <a:p>
            <a:pPr>
              <a:spcAft>
                <a:spcPts val="1200"/>
              </a:spcAft>
              <a:defRPr sz="2000"/>
            </a:pPr>
            <a:r>
              <a:t>2025-03 was the strongest month at approximately ₹1.31 crore.</a:t>
            </a:r>
          </a:p>
          <a:p>
            <a:pPr>
              <a:spcAft>
                <a:spcPts val="1200"/>
              </a:spcAft>
              <a:defRPr sz="2000"/>
            </a:pPr>
            <a:r>
              <a:t>The story shows where revenue is concentrated and where the business can focus.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RFM-based segmentation was used: Recency, Frequency and Monetary value.</a:t>
            </a:r>
          </a:p>
          <a:p>
            <a:pPr>
              <a:spcAft>
                <a:spcPts val="1200"/>
              </a:spcAft>
              <a:defRPr sz="2000"/>
            </a:pPr>
            <a:r>
              <a:t>Segments: At Risk, Needs Attention, Potential, Loyal and Champions.</a:t>
            </a:r>
          </a:p>
          <a:p>
            <a:pPr>
              <a:spcAft>
                <a:spcPts val="1200"/>
              </a:spcAft>
              <a:defRPr sz="2000"/>
            </a:pPr>
            <a:r>
              <a:t>Potential is the largest segment, with 373 customers and about 44% of sales.</a:t>
            </a:r>
          </a:p>
          <a:p>
            <a:pPr>
              <a:spcAft>
                <a:spcPts val="1200"/>
              </a:spcAft>
              <a:defRPr sz="2000"/>
            </a:pPr>
            <a:r>
              <a:t>Champions are fewer in number but have the highest average spending.</a:t>
            </a:r>
          </a:p>
          <a:p>
            <a:pPr>
              <a:spcAft>
                <a:spcPts val="1200"/>
              </a:spcAft>
              <a:defRPr sz="2000"/>
            </a:pPr>
            <a:r>
              <a:t>Action: retain high-value customers and move Potential customers toward Loyal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Business question: Do Electronics orders have a higher average order value than non-Electronics orders?</a:t>
            </a:r>
          </a:p>
          <a:p>
            <a:pPr>
              <a:spcAft>
                <a:spcPts val="1200"/>
              </a:spcAft>
              <a:defRPr sz="2100"/>
            </a:pPr>
            <a:r>
              <a:t>H0: Mean Total_Sales is the same for both groups.</a:t>
            </a:r>
          </a:p>
          <a:p>
            <a:pPr>
              <a:spcAft>
                <a:spcPts val="1200"/>
              </a:spcAft>
              <a:defRPr sz="2100"/>
            </a:pPr>
            <a:r>
              <a:t>H1: Mean Total_Sales is different between the groups.</a:t>
            </a:r>
          </a:p>
          <a:p>
            <a:pPr>
              <a:spcAft>
                <a:spcPts val="1200"/>
              </a:spcAft>
              <a:defRPr sz="2100"/>
            </a:pPr>
            <a:r>
              <a:t>Test: Welch's independent two-sample t-test.</a:t>
            </a:r>
          </a:p>
          <a:p>
            <a:pPr>
              <a:spcAft>
                <a:spcPts val="1200"/>
              </a:spcAft>
              <a:defRPr sz="2100"/>
            </a:pPr>
            <a:r>
              <a:t>Significance level: α = 0.05.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Statistical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Electronics mean: ₹143,442</a:t>
            </a:r>
          </a:p>
          <a:p>
            <a:pPr>
              <a:spcAft>
                <a:spcPts val="1200"/>
              </a:spcAft>
              <a:defRPr sz="1900"/>
            </a:pPr>
            <a:r>
              <a:t>Non-Electronics mean: ₹137,184</a:t>
            </a:r>
          </a:p>
          <a:p>
            <a:pPr>
              <a:spcAft>
                <a:spcPts val="1200"/>
              </a:spcAft>
              <a:defRPr sz="1900"/>
            </a:pPr>
            <a:r>
              <a:t>Mean difference: ₹6,258</a:t>
            </a:r>
          </a:p>
          <a:p>
            <a:pPr>
              <a:spcAft>
                <a:spcPts val="1200"/>
              </a:spcAft>
              <a:defRPr sz="1900"/>
            </a:pPr>
            <a:r>
              <a:t>t-statistic: 0.818</a:t>
            </a:r>
          </a:p>
          <a:p>
            <a:pPr>
              <a:spcAft>
                <a:spcPts val="1200"/>
              </a:spcAft>
              <a:defRPr sz="1900"/>
            </a:pPr>
            <a:r>
              <a:t>p-value: 0.4137</a:t>
            </a:r>
          </a:p>
          <a:p>
            <a:pPr>
              <a:spcAft>
                <a:spcPts val="1200"/>
              </a:spcAft>
              <a:defRPr sz="1900"/>
            </a:pPr>
            <a:r>
              <a:t>95% CI for difference: ₹-8,764 to ₹21,281</a:t>
            </a:r>
          </a:p>
          <a:p>
            <a:pPr>
              <a:spcAft>
                <a:spcPts val="1200"/>
              </a:spcAft>
              <a:defRPr sz="1900"/>
            </a:pPr>
            <a:r>
              <a:t>Decision: Fail to reject H0.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Business Conclusion &amp;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Electronics leads in total revenue, but its average order value is not statistically higher at the 5% level.</a:t>
            </a:r>
          </a:p>
          <a:p>
            <a:pPr>
              <a:spcAft>
                <a:spcPts val="1200"/>
              </a:spcAft>
              <a:defRPr sz="2000"/>
            </a:pPr>
            <a:r>
              <a:t>Its revenue leadership may be driven by transaction volume and product mix rather than a proven higher order value.</a:t>
            </a:r>
          </a:p>
          <a:p>
            <a:pPr>
              <a:spcAft>
                <a:spcPts val="1200"/>
              </a:spcAft>
              <a:defRPr sz="2000"/>
            </a:pPr>
            <a:r>
              <a:t>Continue focusing on Electronics while using customer segmentation for retention and upselling.</a:t>
            </a:r>
          </a:p>
          <a:p>
            <a:pPr>
              <a:spcAft>
                <a:spcPts val="1200"/>
              </a:spcAft>
              <a:defRPr sz="2000"/>
            </a:pPr>
            <a:r>
              <a:t>Track future periods and test additional drivers such as product, city, quantity and customer segment.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Methodology &amp; Data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Source: ApexPlanet cleaned sales dataset.</a:t>
            </a:r>
          </a:p>
          <a:p>
            <a:pPr>
              <a:spcAft>
                <a:spcPts val="1200"/>
              </a:spcAft>
              <a:defRPr sz="1800"/>
            </a:pPr>
            <a:r>
              <a:t>Dataset: 1,000 transactions and 947 unique customers.</a:t>
            </a:r>
          </a:p>
          <a:p>
            <a:pPr>
              <a:spcAft>
                <a:spcPts val="1200"/>
              </a:spcAft>
              <a:defRPr sz="1800"/>
            </a:pPr>
            <a:r>
              <a:t>Customer segmentation: RFM-based approach.</a:t>
            </a:r>
          </a:p>
          <a:p>
            <a:pPr>
              <a:spcAft>
                <a:spcPts val="1200"/>
              </a:spcAft>
              <a:defRPr sz="1800"/>
            </a:pPr>
            <a:r>
              <a:t>Statistical method: Welch's t-test, appropriate when group variances may differ.</a:t>
            </a:r>
          </a:p>
          <a:p>
            <a:pPr>
              <a:spcAft>
                <a:spcPts val="1200"/>
              </a:spcAft>
              <a:defRPr sz="1800"/>
            </a:pPr>
            <a:r>
              <a:t>A p-value above 0.05 means the observed mean difference is not statistically significant at the chosen level.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